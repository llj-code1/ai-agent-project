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58b1a269c94a99" /><Relationship Type="http://schemas.openxmlformats.org/officeDocument/2006/relationships/extended-properties" Target="/docProps/app.xml" Id="Rbf2dc1bd1da24d55" /><Relationship Type="http://schemas.openxmlformats.org/officeDocument/2006/relationships/officeDocument" Target="/ppt/presentation.xml" Id="R99db5037a6164a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a11629b79b417e"/>
  </p:sldMasterIdLst>
  <p:notesMasterIdLst>
    <p:notesMasterId xmlns:r="http://schemas.openxmlformats.org/officeDocument/2006/relationships" r:id="R727682f87ba742bf"/>
  </p:notesMasterIdLst>
  <p:sldIdLst>
    <p:sldId xmlns:r="http://schemas.openxmlformats.org/officeDocument/2006/relationships" id="256" r:id="Rc458ae7a229441e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a11629b79b417e" /><Relationship Type="http://schemas.openxmlformats.org/officeDocument/2006/relationships/theme" Target="/ppt/theme/theme1.xml" Id="Ree03262a6f624863" /><Relationship Type="http://schemas.openxmlformats.org/officeDocument/2006/relationships/notesMaster" Target="/ppt/notesMasters/notesMaster1.xml" Id="R727682f87ba742bf" /><Relationship Type="http://schemas.openxmlformats.org/officeDocument/2006/relationships/presProps" Target="/ppt/presProps.xml" Id="Rfba10c9507c04e8b" /><Relationship Type="http://schemas.openxmlformats.org/officeDocument/2006/relationships/viewProps" Target="/ppt/viewProps.xml" Id="Rf4a3c2d4343048c2" /><Relationship Type="http://schemas.openxmlformats.org/officeDocument/2006/relationships/tableStyles" Target="/ppt/tableStyles.xml" Id="R6e50efbdc9824f05" /><Relationship Type="http://schemas.openxmlformats.org/officeDocument/2006/relationships/slide" Target="/ppt/slides/slide1.xml" Id="Rc458ae7a229441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dd61d8379284d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81c9eeb4e64b43" /><Relationship Type="http://schemas.openxmlformats.org/officeDocument/2006/relationships/notesMaster" Target="/ppt/notesMasters/notesMaster1.xml" Id="R74e7273fffee4d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国内宏观至资产的传导框架 V4 优化版：保留原有判断和策略文字，主要优化版式、留白和策略框可读性。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725bbb5c5245c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2425615d4d84e4f" /><Relationship Type="http://schemas.openxmlformats.org/officeDocument/2006/relationships/slideLayout" Target="/ppt/slideLayouts/slideLayout2.xml" Id="Rdc0be368dda446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0be368dda446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3dc9ca09db4720" /><Relationship Type="http://schemas.openxmlformats.org/officeDocument/2006/relationships/notesSlide" Target="/ppt/notesSlides/notesSlide1.xml" Id="R2916ed81acc847b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5BC1CD-A8B4-432A-ADA3-D8981FEB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45B21A-EC5B-425F-A53D-46B48E16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"/>
            <a:ext cx="990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641"/>
                </a:solidFill>
              </a:defRPr>
            </a:pPr>
            <a:r>
              <a:rPr sz="2325" b="1">
                <a:solidFill>
                  <a:srgbClr val="102641"/>
                </a:solidFill>
              </a:rPr>
              <a:t>国内宏观至资产的传导框架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43B2D1-4690-43F9-9C7C-6A9D6191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"/>
            <a:ext cx="51435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22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3A6219-7559-4C84-BF01-8A2372499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028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6772"/>
                </a:solidFill>
              </a:defRPr>
            </a:pPr>
            <a:r>
              <a:rPr sz="1050" b="0">
                <a:solidFill>
                  <a:srgbClr val="606772"/>
                </a:solidFill>
              </a:rPr>
              <a:t>先看经济是否被需求接住，再看流动性是否能进入资产资金面；政策面是重要变量，资产端是最终结果。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5657DE-2CD9-4539-849E-3B40F29B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28700"/>
            <a:ext cx="647700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55D8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1B5110-E9ED-416E-A29A-51E514F4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114425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00024"/>
                </a:solidFill>
              </a:defRPr>
            </a:pPr>
            <a:r>
              <a:rPr sz="1425" b="1">
                <a:solidFill>
                  <a:srgbClr val="C00024"/>
                </a:solidFill>
              </a:rPr>
              <a:t>流动性: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916AE2-E557-4FDA-8135-CDA4EABA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1144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202020"/>
                </a:solidFill>
              </a:defRPr>
            </a:pPr>
            <a:r>
              <a:rPr sz="1238" b="1">
                <a:solidFill>
                  <a:srgbClr val="202020"/>
                </a:solidFill>
              </a:rPr>
              <a:t>当前市场流动性整体充裕偏松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F49B9C-8970-436D-B744-F35E6A05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371600"/>
            <a:ext cx="6286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10264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53EB55-4342-43F2-85E8-58AFCA54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90650"/>
            <a:ext cx="605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641"/>
                </a:solidFill>
              </a:defRPr>
            </a:pPr>
            <a:r>
              <a:rPr sz="1050" b="1">
                <a:solidFill>
                  <a:srgbClr val="102641"/>
                </a:solidFill>
              </a:rPr>
              <a:t>货币政策：适度宽松，锚定“物价回升”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4430AC-3070-4CD1-92C5-BC24B093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7716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55D8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94F8CD-8433-49D0-913D-5924810E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543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641"/>
                </a:solidFill>
              </a:defRPr>
            </a:pPr>
            <a:r>
              <a:rPr sz="1350" b="1">
                <a:solidFill>
                  <a:srgbClr val="102641"/>
                </a:solidFill>
              </a:rPr>
              <a:t>央行流动性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E78F8D-FFBB-4B9A-A371-F002BFD8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14550"/>
            <a:ext cx="740664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202020"/>
                </a:solidFill>
              </a:defRPr>
            </a:pPr>
            <a:r>
              <a:rPr sz="810" b="1">
                <a:solidFill>
                  <a:srgbClr val="202020"/>
                </a:solidFill>
              </a:rPr>
              <a:t>7天逆回购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FBF271-0D70-467A-BEF9-2D19A184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414" y="2114550"/>
            <a:ext cx="524637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40" b="1">
                <a:solidFill>
                  <a:srgbClr val="102641"/>
                </a:solidFill>
              </a:defRPr>
            </a:pPr>
            <a:r>
              <a:rPr sz="840" b="1">
                <a:solidFill>
                  <a:srgbClr val="102641"/>
                </a:solidFill>
              </a:rPr>
              <a:t>1.40%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A7ADFE-4965-4B60-869F-1FD21DBD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912" y="2114550"/>
            <a:ext cx="24688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C99A2E"/>
                </a:solidFill>
              </a:defRPr>
            </a:pPr>
            <a:r>
              <a:rPr sz="938" b="1">
                <a:solidFill>
                  <a:srgbClr val="C99A2E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526B5C-A680-4159-914B-D2766824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740664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202020"/>
                </a:solidFill>
              </a:defRPr>
            </a:pPr>
            <a:r>
              <a:rPr sz="810" b="1">
                <a:solidFill>
                  <a:srgbClr val="202020"/>
                </a:solidFill>
              </a:rPr>
              <a:t>存准率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76E4E4-4160-4B00-AB02-5B99FE1E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414" y="2333625"/>
            <a:ext cx="524637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40" b="1">
                <a:solidFill>
                  <a:srgbClr val="102641"/>
                </a:solidFill>
              </a:defRPr>
            </a:pPr>
            <a:r>
              <a:rPr sz="840" b="1">
                <a:solidFill>
                  <a:srgbClr val="102641"/>
                </a:solidFill>
              </a:rPr>
              <a:t>9.0%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EC59E3-F531-41DB-AA1F-EDEA81E6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912" y="2333625"/>
            <a:ext cx="24688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C99A2E"/>
                </a:solidFill>
              </a:defRPr>
            </a:pPr>
            <a:r>
              <a:rPr sz="938" b="1">
                <a:solidFill>
                  <a:srgbClr val="C99A2E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DB758A-DEF8-4A54-909A-0CAA0D49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740664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202020"/>
                </a:solidFill>
              </a:defRPr>
            </a:pPr>
            <a:r>
              <a:rPr sz="810" b="1">
                <a:solidFill>
                  <a:srgbClr val="202020"/>
                </a:solidFill>
              </a:rPr>
              <a:t>MLF净投放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A77BC2-BD79-4845-9C11-08633042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414" y="2552700"/>
            <a:ext cx="524637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40" b="1">
                <a:solidFill>
                  <a:srgbClr val="102641"/>
                </a:solidFill>
              </a:defRPr>
            </a:pPr>
            <a:r>
              <a:rPr sz="840" b="1">
                <a:solidFill>
                  <a:srgbClr val="102641"/>
                </a:solidFill>
              </a:rPr>
              <a:t>500亿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D9349A-88D8-472E-8961-4BE1A9BF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912" y="2552700"/>
            <a:ext cx="24688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C00024"/>
                </a:solidFill>
              </a:defRPr>
            </a:pPr>
            <a:r>
              <a:rPr sz="938" b="1">
                <a:solidFill>
                  <a:srgbClr val="C00024"/>
                </a:solidFill>
              </a:rPr>
              <a:t>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A382D9-310F-41D2-AEA4-C53C3E12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71775"/>
            <a:ext cx="740664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202020"/>
                </a:solidFill>
              </a:defRPr>
            </a:pPr>
            <a:r>
              <a:rPr sz="810" b="1">
                <a:solidFill>
                  <a:srgbClr val="202020"/>
                </a:solidFill>
              </a:rPr>
              <a:t>其他工具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A59AD9-6ED0-403D-B3E8-441ED46E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414" y="2771775"/>
            <a:ext cx="524637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40" b="1">
                <a:solidFill>
                  <a:srgbClr val="102641"/>
                </a:solidFill>
              </a:defRPr>
            </a:pPr>
            <a:r>
              <a:rPr sz="840" b="1">
                <a:solidFill>
                  <a:srgbClr val="102641"/>
                </a:solidFill>
              </a:rPr>
              <a:t>1728亿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A661BD-8E2E-417D-B790-EA4EEF7B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912" y="2771775"/>
            <a:ext cx="24688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2F7D57"/>
                </a:solidFill>
              </a:defRPr>
            </a:pPr>
            <a:r>
              <a:rPr sz="938" b="1">
                <a:solidFill>
                  <a:srgbClr val="2F7D57"/>
                </a:solidFill>
              </a:rPr>
              <a:t>↑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DDD2FF-C2C2-40F9-AA90-7C3076DD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95450"/>
            <a:ext cx="17716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55D8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F5CF28-A3E9-4D89-AD63-67BE221E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790700"/>
            <a:ext cx="1543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641"/>
                </a:solidFill>
              </a:defRPr>
            </a:pPr>
            <a:r>
              <a:rPr sz="1350" b="1">
                <a:solidFill>
                  <a:srgbClr val="102641"/>
                </a:solidFill>
              </a:rPr>
              <a:t>银行间流动性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49E271-93DA-42BA-AEF4-3E0EE337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114550"/>
            <a:ext cx="740664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202020"/>
                </a:solidFill>
              </a:defRPr>
            </a:pPr>
            <a:r>
              <a:rPr sz="810" b="1">
                <a:solidFill>
                  <a:srgbClr val="202020"/>
                </a:solidFill>
              </a:rPr>
              <a:t>DR001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73963D-D980-42E3-9213-DF1E1439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2464" y="2114550"/>
            <a:ext cx="524637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40" b="1">
                <a:solidFill>
                  <a:srgbClr val="102641"/>
                </a:solidFill>
              </a:defRPr>
            </a:pPr>
            <a:r>
              <a:rPr sz="840" b="1">
                <a:solidFill>
                  <a:srgbClr val="102641"/>
                </a:solidFill>
              </a:rPr>
              <a:t>1.22%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242F64-0D69-4FE4-ABDA-47D7CB05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962" y="2114550"/>
            <a:ext cx="24688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C99A2E"/>
                </a:solidFill>
              </a:defRPr>
            </a:pPr>
            <a:r>
              <a:rPr sz="938" b="1">
                <a:solidFill>
                  <a:srgbClr val="C99A2E"/>
                </a:solidFill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F75DC4-4B35-40CC-8BAF-5303E010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333625"/>
            <a:ext cx="740664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202020"/>
                </a:solidFill>
              </a:defRPr>
            </a:pPr>
            <a:r>
              <a:rPr sz="810" b="1">
                <a:solidFill>
                  <a:srgbClr val="202020"/>
                </a:solidFill>
              </a:rPr>
              <a:t>DR007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F53B71-84B5-4350-8C92-CD87E3B6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2464" y="2333625"/>
            <a:ext cx="524637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40" b="1">
                <a:solidFill>
                  <a:srgbClr val="102641"/>
                </a:solidFill>
              </a:defRPr>
            </a:pPr>
            <a:r>
              <a:rPr sz="840" b="1">
                <a:solidFill>
                  <a:srgbClr val="102641"/>
                </a:solidFill>
              </a:rPr>
              <a:t>1.34%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FF6339-2D9E-4DE0-9AB6-D476A72E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962" y="2333625"/>
            <a:ext cx="24688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2F7D57"/>
                </a:solidFill>
              </a:defRPr>
            </a:pPr>
            <a:r>
              <a:rPr sz="938" b="1">
                <a:solidFill>
                  <a:srgbClr val="2F7D57"/>
                </a:solidFill>
              </a:rPr>
              <a:t>↑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67234D-590C-47B0-BFF7-DD1E80C0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52700"/>
            <a:ext cx="740664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202020"/>
                </a:solidFill>
              </a:defRPr>
            </a:pPr>
            <a:r>
              <a:rPr sz="810" b="1">
                <a:solidFill>
                  <a:srgbClr val="202020"/>
                </a:solidFill>
              </a:rPr>
              <a:t>R001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513FCA-1DCB-4DC7-ACB5-6604C881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2464" y="2552700"/>
            <a:ext cx="524637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40" b="1">
                <a:solidFill>
                  <a:srgbClr val="102641"/>
                </a:solidFill>
              </a:defRPr>
            </a:pPr>
            <a:r>
              <a:rPr sz="840" b="1">
                <a:solidFill>
                  <a:srgbClr val="102641"/>
                </a:solidFill>
              </a:rPr>
              <a:t>1.29%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2D61CE-8B0E-4D7A-8E72-95DC770EE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962" y="2552700"/>
            <a:ext cx="24688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C99A2E"/>
                </a:solidFill>
              </a:defRPr>
            </a:pPr>
            <a:r>
              <a:rPr sz="938" b="1">
                <a:solidFill>
                  <a:srgbClr val="C99A2E"/>
                </a:solidFill>
              </a:rPr>
              <a:t>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D2F0586-068F-40C4-B48B-1C7AA2AD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71775"/>
            <a:ext cx="740664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202020"/>
                </a:solidFill>
              </a:defRPr>
            </a:pPr>
            <a:r>
              <a:rPr sz="810" b="1">
                <a:solidFill>
                  <a:srgbClr val="202020"/>
                </a:solidFill>
              </a:rPr>
              <a:t>R007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EF06370-C671-46C0-AB43-BA94B8A0B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2464" y="2771775"/>
            <a:ext cx="524637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40" b="1">
                <a:solidFill>
                  <a:srgbClr val="102641"/>
                </a:solidFill>
              </a:defRPr>
            </a:pPr>
            <a:r>
              <a:rPr sz="840" b="1">
                <a:solidFill>
                  <a:srgbClr val="102641"/>
                </a:solidFill>
              </a:rPr>
              <a:t>1.39%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F55AB4-58ED-49E0-9407-42ACF809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962" y="2771775"/>
            <a:ext cx="24688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C99A2E"/>
                </a:solidFill>
              </a:defRPr>
            </a:pPr>
            <a:r>
              <a:rPr sz="938" b="1">
                <a:solidFill>
                  <a:srgbClr val="C99A2E"/>
                </a:solidFill>
              </a:rPr>
              <a:t>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D475C21-86DA-481F-A626-E604D7E0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695450"/>
            <a:ext cx="20574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55D8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43CC66E-80CC-48CE-936B-E1DABF5E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90700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641"/>
                </a:solidFill>
              </a:defRPr>
            </a:pPr>
            <a:r>
              <a:rPr sz="1350" b="1">
                <a:solidFill>
                  <a:srgbClr val="102641"/>
                </a:solidFill>
              </a:rPr>
              <a:t>实体流动性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30E5A14-2919-4772-A077-E0DB2536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114550"/>
            <a:ext cx="877824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202020"/>
                </a:solidFill>
              </a:defRPr>
            </a:pPr>
            <a:r>
              <a:rPr sz="810" b="1">
                <a:solidFill>
                  <a:srgbClr val="202020"/>
                </a:solidFill>
              </a:rPr>
              <a:t>社融存量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0C9FA5E-45A7-4E4A-99F6-C6B8F510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3674" y="2114550"/>
            <a:ext cx="621792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40" b="1">
                <a:solidFill>
                  <a:srgbClr val="102641"/>
                </a:solidFill>
              </a:defRPr>
            </a:pPr>
            <a:r>
              <a:rPr sz="840" b="1">
                <a:solidFill>
                  <a:srgbClr val="102641"/>
                </a:solidFill>
              </a:rPr>
              <a:t>7.9%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E54F7F6-7D79-45C8-A015-BC4D5DC0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042" y="2114550"/>
            <a:ext cx="29260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C00024"/>
                </a:solidFill>
              </a:defRPr>
            </a:pPr>
            <a:r>
              <a:rPr sz="938" b="1">
                <a:solidFill>
                  <a:srgbClr val="C00024"/>
                </a:solidFill>
              </a:rPr>
              <a:t>↓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3A14719-F075-4441-9F52-5DFCA6DF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333625"/>
            <a:ext cx="877824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202020"/>
                </a:solidFill>
              </a:defRPr>
            </a:pPr>
            <a:r>
              <a:rPr sz="810" b="1">
                <a:solidFill>
                  <a:srgbClr val="202020"/>
                </a:solidFill>
              </a:rPr>
              <a:t>企业债融资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4AFF8FA-1F84-44C7-807D-16C83784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3674" y="2333625"/>
            <a:ext cx="621792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40" b="1">
                <a:solidFill>
                  <a:srgbClr val="102641"/>
                </a:solidFill>
              </a:defRPr>
            </a:pPr>
            <a:r>
              <a:rPr sz="840" b="1">
                <a:solidFill>
                  <a:srgbClr val="102641"/>
                </a:solidFill>
              </a:rPr>
              <a:t>7.9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D2F10B0-2ACC-46E1-94D3-D3B3DA0C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042" y="2333625"/>
            <a:ext cx="29260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2F7D57"/>
                </a:solidFill>
              </a:defRPr>
            </a:pPr>
            <a:r>
              <a:rPr sz="938" b="1">
                <a:solidFill>
                  <a:srgbClr val="2F7D57"/>
                </a:solidFill>
              </a:rPr>
              <a:t>↑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A73DB92-5EFC-48DA-A402-D1494666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552700"/>
            <a:ext cx="877824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202020"/>
                </a:solidFill>
              </a:defRPr>
            </a:pPr>
            <a:r>
              <a:rPr sz="810" b="1">
                <a:solidFill>
                  <a:srgbClr val="202020"/>
                </a:solidFill>
              </a:rPr>
              <a:t>M1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56C75E9-D6D1-4F3A-A792-1E9515D1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3674" y="2552700"/>
            <a:ext cx="621792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40" b="1">
                <a:solidFill>
                  <a:srgbClr val="102641"/>
                </a:solidFill>
              </a:defRPr>
            </a:pPr>
            <a:r>
              <a:rPr sz="840" b="1">
                <a:solidFill>
                  <a:srgbClr val="102641"/>
                </a:solidFill>
              </a:rPr>
              <a:t>5.1%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5E47C58-BA9E-4788-B84D-A1A15561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042" y="2552700"/>
            <a:ext cx="29260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C00024"/>
                </a:solidFill>
              </a:defRPr>
            </a:pPr>
            <a:r>
              <a:rPr sz="938" b="1">
                <a:solidFill>
                  <a:srgbClr val="C00024"/>
                </a:solidFill>
              </a:rPr>
              <a:t>↓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6FF6855-AF5B-4161-94AE-0C539FA3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71775"/>
            <a:ext cx="877824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202020"/>
                </a:solidFill>
              </a:defRPr>
            </a:pPr>
            <a:r>
              <a:rPr sz="810" b="1">
                <a:solidFill>
                  <a:srgbClr val="202020"/>
                </a:solidFill>
              </a:rPr>
              <a:t>M2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4A571CD-D006-4CB1-BEE1-4A4355EF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3674" y="2771775"/>
            <a:ext cx="621792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40" b="1">
                <a:solidFill>
                  <a:srgbClr val="102641"/>
                </a:solidFill>
              </a:defRPr>
            </a:pPr>
            <a:r>
              <a:rPr sz="840" b="1">
                <a:solidFill>
                  <a:srgbClr val="102641"/>
                </a:solidFill>
              </a:rPr>
              <a:t>8.5%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547E2F2-C840-4115-9E87-974B859C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042" y="2771775"/>
            <a:ext cx="29260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C00024"/>
                </a:solidFill>
              </a:defRPr>
            </a:pPr>
            <a:r>
              <a:rPr sz="938" b="1">
                <a:solidFill>
                  <a:srgbClr val="C00024"/>
                </a:solidFill>
              </a:rPr>
              <a:t>↓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AD862DF-E39C-48BA-81D5-3995BF993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05100" y="240030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9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75827A1-01C2-4800-9455-C5AC24F80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9150" y="240030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9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AD7DB9B-449F-449E-AF1B-C398A3CF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724150"/>
            <a:ext cx="3048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9E4D0"/>
          </a:solidFill>
          <a:ln xmlns:a="http://schemas.openxmlformats.org/drawingml/2006/main" w="0">
            <a:solidFill>
              <a:srgbClr val="F9E4D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51C3BC9-B142-43D4-A821-6205FC18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152900"/>
            <a:ext cx="3048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9E4D0"/>
          </a:solidFill>
          <a:ln xmlns:a="http://schemas.openxmlformats.org/drawingml/2006/main" w="0">
            <a:solidFill>
              <a:srgbClr val="F9E4D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B41B3E6-0067-4534-8A98-9A19B8A6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581650"/>
            <a:ext cx="3048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9E4D0"/>
          </a:solidFill>
          <a:ln xmlns:a="http://schemas.openxmlformats.org/drawingml/2006/main" w="0">
            <a:solidFill>
              <a:srgbClr val="F9E4D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3297B5A-58FB-4728-A948-4F750E99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647700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11111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9E2F9EB-68F1-4DC8-B18D-EBB75E96D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38575"/>
            <a:ext cx="971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00024"/>
                </a:solidFill>
              </a:defRPr>
            </a:pPr>
            <a:r>
              <a:rPr sz="1425" b="1">
                <a:solidFill>
                  <a:srgbClr val="C00024"/>
                </a:solidFill>
              </a:rPr>
              <a:t>经济面: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BDB387A-9C31-4201-AEA2-723584F5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3857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020"/>
                </a:solidFill>
              </a:defRPr>
            </a:pPr>
            <a:r>
              <a:rPr sz="1200" b="1">
                <a:solidFill>
                  <a:srgbClr val="202020"/>
                </a:solidFill>
              </a:rPr>
              <a:t>整体呈现若修复极限，但持续性仍需关注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57E52AC-7EB6-442E-89D1-82B20FFE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1485900" cy="15430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C01BFAC-1AC8-46DF-B00B-948164AA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67200"/>
            <a:ext cx="1295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供给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8A38BEF-A11D-4DF3-9508-962A4355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43425"/>
            <a:ext cx="1219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57C5CDD-98B7-4324-8EF4-8E766865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10100"/>
            <a:ext cx="1295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606772"/>
                </a:solidFill>
              </a:defRPr>
            </a:pPr>
            <a:r>
              <a:rPr sz="848" b="0">
                <a:solidFill>
                  <a:srgbClr val="606772"/>
                </a:solidFill>
              </a:rPr>
              <a:t>生产端是否先修复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0569A83-6ABB-4059-9CD6-C4A06231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603504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202020"/>
                </a:solidFill>
              </a:defRPr>
            </a:pPr>
            <a:r>
              <a:rPr sz="810" b="1">
                <a:solidFill>
                  <a:srgbClr val="202020"/>
                </a:solidFill>
              </a:rPr>
              <a:t>制造业PMI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77953F9-D447-497E-B097-4AE262E1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204" y="4876800"/>
            <a:ext cx="427482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40" b="1">
                <a:solidFill>
                  <a:srgbClr val="102641"/>
                </a:solidFill>
              </a:defRPr>
            </a:pPr>
            <a:r>
              <a:rPr sz="840" b="1">
                <a:solidFill>
                  <a:srgbClr val="102641"/>
                </a:solidFill>
              </a:rPr>
              <a:t>50.4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8C39560-AF19-4D5F-BE58-E86359B0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4832" y="4876800"/>
            <a:ext cx="20116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2F7D57"/>
                </a:solidFill>
              </a:defRPr>
            </a:pPr>
            <a:r>
              <a:rPr sz="938" b="1">
                <a:solidFill>
                  <a:srgbClr val="2F7D57"/>
                </a:solidFill>
              </a:rPr>
              <a:t>↑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34F8044-BBC4-42C7-8B76-85D4ACC9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67300"/>
            <a:ext cx="603504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202020"/>
                </a:solidFill>
              </a:defRPr>
            </a:pPr>
            <a:r>
              <a:rPr sz="810" b="1">
                <a:solidFill>
                  <a:srgbClr val="202020"/>
                </a:solidFill>
              </a:rPr>
              <a:t>生产PMI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CA18390-036B-478C-A882-8E2DB3CF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204" y="5067300"/>
            <a:ext cx="427482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40" b="1">
                <a:solidFill>
                  <a:srgbClr val="102641"/>
                </a:solidFill>
              </a:defRPr>
            </a:pPr>
            <a:r>
              <a:rPr sz="840" b="1">
                <a:solidFill>
                  <a:srgbClr val="102641"/>
                </a:solidFill>
              </a:rPr>
              <a:t>51.4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10A62B9-908F-4D3F-94EC-E8064629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4832" y="5067300"/>
            <a:ext cx="20116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2F7D57"/>
                </a:solidFill>
              </a:defRPr>
            </a:pPr>
            <a:r>
              <a:rPr sz="938" b="1">
                <a:solidFill>
                  <a:srgbClr val="2F7D57"/>
                </a:solidFill>
              </a:rPr>
              <a:t>↑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CB993B6-91EA-4F30-ABA1-6880B888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57800"/>
            <a:ext cx="603504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202020"/>
                </a:solidFill>
              </a:defRPr>
            </a:pPr>
            <a:r>
              <a:rPr sz="810" b="1">
                <a:solidFill>
                  <a:srgbClr val="202020"/>
                </a:solidFill>
              </a:rPr>
              <a:t>新订单PMI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EACAA50-D774-4F4F-90BE-57A13705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204" y="5257800"/>
            <a:ext cx="427482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40" b="1">
                <a:solidFill>
                  <a:srgbClr val="102641"/>
                </a:solidFill>
              </a:defRPr>
            </a:pPr>
            <a:r>
              <a:rPr sz="840" b="1">
                <a:solidFill>
                  <a:srgbClr val="102641"/>
                </a:solidFill>
              </a:rPr>
              <a:t>51.6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9677CBD-51E0-45C9-AFAE-DD81EF79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4832" y="5257800"/>
            <a:ext cx="20116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2F7D57"/>
                </a:solidFill>
              </a:defRPr>
            </a:pPr>
            <a:r>
              <a:rPr sz="938" b="1">
                <a:solidFill>
                  <a:srgbClr val="2F7D57"/>
                </a:solidFill>
              </a:rPr>
              <a:t>↑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2006FCC-2906-4E6C-8BE5-6BCD44EC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48300"/>
            <a:ext cx="603504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202020"/>
                </a:solidFill>
              </a:defRPr>
            </a:pPr>
            <a:r>
              <a:rPr sz="810" b="1">
                <a:solidFill>
                  <a:srgbClr val="202020"/>
                </a:solidFill>
              </a:rPr>
              <a:t>新出口订单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E67D9D3-FD9C-400E-9029-6B32017B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204" y="5448300"/>
            <a:ext cx="427482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40" b="1">
                <a:solidFill>
                  <a:srgbClr val="102641"/>
                </a:solidFill>
              </a:defRPr>
            </a:pPr>
            <a:r>
              <a:rPr sz="840" b="1">
                <a:solidFill>
                  <a:srgbClr val="102641"/>
                </a:solidFill>
              </a:rPr>
              <a:t>49.1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0E0EDE5-5B7D-481D-87CE-9D891061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4832" y="5448300"/>
            <a:ext cx="20116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2F7D57"/>
                </a:solidFill>
              </a:defRPr>
            </a:pPr>
            <a:r>
              <a:rPr sz="938" b="1">
                <a:solidFill>
                  <a:srgbClr val="2F7D57"/>
                </a:solidFill>
              </a:rPr>
              <a:t>↑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BEE897C-21DD-41FE-B019-98DCF34C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00300" y="4943475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9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F9A0CB8-5A40-49B1-928E-8FAF1887C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171950"/>
            <a:ext cx="1485900" cy="15430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9534AEE-EAAE-4398-85E0-91038873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67200"/>
            <a:ext cx="1295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需求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E79705C-A1CC-4B3C-8859-2CCB6ACE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543425"/>
            <a:ext cx="1219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0359054-3972-49A8-9B08-D641C1F6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610100"/>
            <a:ext cx="1295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606772"/>
                </a:solidFill>
              </a:defRPr>
            </a:pPr>
            <a:r>
              <a:rPr sz="848" b="0">
                <a:solidFill>
                  <a:srgbClr val="606772"/>
                </a:solidFill>
              </a:rPr>
              <a:t>内外需能否接住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6FE2A91-8DED-4BCA-9DD9-B12871E5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876800"/>
            <a:ext cx="603504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202020"/>
                </a:solidFill>
              </a:defRPr>
            </a:pPr>
            <a:r>
              <a:rPr sz="810" b="1">
                <a:solidFill>
                  <a:srgbClr val="202020"/>
                </a:solidFill>
              </a:rPr>
              <a:t>社零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210A4D0-6AC4-4926-9378-54D0E8996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304" y="4876800"/>
            <a:ext cx="427482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40" b="1">
                <a:solidFill>
                  <a:srgbClr val="102641"/>
                </a:solidFill>
              </a:defRPr>
            </a:pPr>
            <a:r>
              <a:rPr sz="840" b="1">
                <a:solidFill>
                  <a:srgbClr val="102641"/>
                </a:solidFill>
              </a:rPr>
              <a:t>1.7%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8B27C93-0074-48A8-B794-6B60DFC6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6932" y="4876800"/>
            <a:ext cx="20116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C00024"/>
                </a:solidFill>
              </a:defRPr>
            </a:pPr>
            <a:r>
              <a:rPr sz="938" b="1">
                <a:solidFill>
                  <a:srgbClr val="C00024"/>
                </a:solidFill>
              </a:rPr>
              <a:t>↓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89E235D-E83D-443A-8CBB-E56A6FE9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067300"/>
            <a:ext cx="603504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202020"/>
                </a:solidFill>
              </a:defRPr>
            </a:pPr>
            <a:r>
              <a:rPr sz="810" b="1">
                <a:solidFill>
                  <a:srgbClr val="202020"/>
                </a:solidFill>
              </a:rPr>
              <a:t>固定投资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ABFF22B-FB1E-4428-B06A-ED5FFE52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304" y="5067300"/>
            <a:ext cx="427482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40" b="1">
                <a:solidFill>
                  <a:srgbClr val="102641"/>
                </a:solidFill>
              </a:defRPr>
            </a:pPr>
            <a:r>
              <a:rPr sz="840" b="1">
                <a:solidFill>
                  <a:srgbClr val="102641"/>
                </a:solidFill>
              </a:rPr>
              <a:t>1.7%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8809DA9-7482-4FCB-B92B-9B5A818B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6932" y="5067300"/>
            <a:ext cx="20116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C00024"/>
                </a:solidFill>
              </a:defRPr>
            </a:pPr>
            <a:r>
              <a:rPr sz="938" b="1">
                <a:solidFill>
                  <a:srgbClr val="C00024"/>
                </a:solidFill>
              </a:rPr>
              <a:t>↓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3307B8C-8ADA-4694-9143-753398CC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257800"/>
            <a:ext cx="603504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202020"/>
                </a:solidFill>
              </a:defRPr>
            </a:pPr>
            <a:r>
              <a:rPr sz="810" b="1">
                <a:solidFill>
                  <a:srgbClr val="202020"/>
                </a:solidFill>
              </a:rPr>
              <a:t>房屋销售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937EB9F-C12A-4CED-91A2-DCE364A1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304" y="5257800"/>
            <a:ext cx="427482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40" b="1">
                <a:solidFill>
                  <a:srgbClr val="102641"/>
                </a:solidFill>
              </a:defRPr>
            </a:pPr>
            <a:r>
              <a:rPr sz="840" b="1">
                <a:solidFill>
                  <a:srgbClr val="102641"/>
                </a:solidFill>
              </a:rPr>
              <a:t>-10.4%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433B27F-A6B9-4644-8E1F-4312F93C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6932" y="5257800"/>
            <a:ext cx="20116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2F7D57"/>
                </a:solidFill>
              </a:defRPr>
            </a:pPr>
            <a:r>
              <a:rPr sz="938" b="1">
                <a:solidFill>
                  <a:srgbClr val="2F7D57"/>
                </a:solidFill>
              </a:rPr>
              <a:t>↑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3234CE1-C7CC-4F7A-96BE-5C078C4B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448300"/>
            <a:ext cx="603504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202020"/>
                </a:solidFill>
              </a:defRPr>
            </a:pPr>
            <a:r>
              <a:rPr sz="810" b="1">
                <a:solidFill>
                  <a:srgbClr val="202020"/>
                </a:solidFill>
              </a:rPr>
              <a:t>出口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836E474-EB5C-44AC-9BA7-F7CCC13D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304" y="5448300"/>
            <a:ext cx="427482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40" b="1">
                <a:solidFill>
                  <a:srgbClr val="102641"/>
                </a:solidFill>
              </a:defRPr>
            </a:pPr>
            <a:r>
              <a:rPr sz="840" b="1">
                <a:solidFill>
                  <a:srgbClr val="102641"/>
                </a:solidFill>
              </a:rPr>
              <a:t>2.5%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00B5B2B-EE37-4018-A59E-29D5A147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6932" y="5448300"/>
            <a:ext cx="20116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C00024"/>
                </a:solidFill>
              </a:defRPr>
            </a:pPr>
            <a:r>
              <a:rPr sz="938" b="1">
                <a:solidFill>
                  <a:srgbClr val="C00024"/>
                </a:solidFill>
              </a:rPr>
              <a:t>↓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3AEB46D-75E4-4AB9-B9DF-779B87772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2400" y="4943475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9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BD101ED-B74C-43A0-A7AF-812FB919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171950"/>
            <a:ext cx="1485900" cy="15430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C768DFA-32B0-4A32-954B-35A7EBD1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267200"/>
            <a:ext cx="1295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价格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18E29B9-4C39-4802-89F2-B2C3A7B9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543425"/>
            <a:ext cx="1219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1F6B16E-76A2-4926-8C67-B059BAA9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610100"/>
            <a:ext cx="1295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606772"/>
                </a:solidFill>
              </a:defRPr>
            </a:pPr>
            <a:r>
              <a:rPr sz="848" b="0">
                <a:solidFill>
                  <a:srgbClr val="606772"/>
                </a:solidFill>
              </a:rPr>
              <a:t>价格能否传到利润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7F070E1-F732-407B-A2CD-A0D0C254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876800"/>
            <a:ext cx="603504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202020"/>
                </a:solidFill>
              </a:defRPr>
            </a:pPr>
            <a:r>
              <a:rPr sz="810" b="1">
                <a:solidFill>
                  <a:srgbClr val="202020"/>
                </a:solidFill>
              </a:rPr>
              <a:t>PPI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78B86D5-CD90-4FD9-971E-0376D3C4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6404" y="4876800"/>
            <a:ext cx="427482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40" b="1">
                <a:solidFill>
                  <a:srgbClr val="102641"/>
                </a:solidFill>
              </a:defRPr>
            </a:pPr>
            <a:r>
              <a:rPr sz="840" b="1">
                <a:solidFill>
                  <a:srgbClr val="102641"/>
                </a:solidFill>
              </a:rPr>
              <a:t>0.5%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91B201C-A680-4577-8FDE-062DF2CC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9032" y="4876800"/>
            <a:ext cx="20116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2F7D57"/>
                </a:solidFill>
              </a:defRPr>
            </a:pPr>
            <a:r>
              <a:rPr sz="938" b="1">
                <a:solidFill>
                  <a:srgbClr val="2F7D57"/>
                </a:solidFill>
              </a:rPr>
              <a:t>↑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7212520-7B6F-4B9B-924D-E11F3897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067300"/>
            <a:ext cx="603504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202020"/>
                </a:solidFill>
              </a:defRPr>
            </a:pPr>
            <a:r>
              <a:rPr sz="810" b="1">
                <a:solidFill>
                  <a:srgbClr val="202020"/>
                </a:solidFill>
              </a:rPr>
              <a:t>CPI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FB56EFB-30C8-4BE0-BFBF-05B8D8E13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6404" y="5067300"/>
            <a:ext cx="427482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40" b="1">
                <a:solidFill>
                  <a:srgbClr val="102641"/>
                </a:solidFill>
              </a:defRPr>
            </a:pPr>
            <a:r>
              <a:rPr sz="840" b="1">
                <a:solidFill>
                  <a:srgbClr val="102641"/>
                </a:solidFill>
              </a:rPr>
              <a:t>1.0%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BE1F6D7-4966-4E98-8BEB-8B78218F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9032" y="5067300"/>
            <a:ext cx="20116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C00024"/>
                </a:solidFill>
              </a:defRPr>
            </a:pPr>
            <a:r>
              <a:rPr sz="938" b="1">
                <a:solidFill>
                  <a:srgbClr val="C00024"/>
                </a:solidFill>
              </a:rPr>
              <a:t>↓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29F43E8-0E2C-4DF4-8171-61D2523C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257800"/>
            <a:ext cx="603504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202020"/>
                </a:solidFill>
              </a:defRPr>
            </a:pPr>
            <a:r>
              <a:rPr sz="810" b="1">
                <a:solidFill>
                  <a:srgbClr val="202020"/>
                </a:solidFill>
              </a:rPr>
              <a:t>原材料购价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5AB0260-4D2A-4A11-88E0-A999B2F1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6404" y="5257800"/>
            <a:ext cx="427482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40" b="1">
                <a:solidFill>
                  <a:srgbClr val="102641"/>
                </a:solidFill>
              </a:defRPr>
            </a:pPr>
            <a:r>
              <a:rPr sz="840" b="1">
                <a:solidFill>
                  <a:srgbClr val="102641"/>
                </a:solidFill>
              </a:rPr>
              <a:t>63.9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5C56D75-DD65-4F84-AFE4-DB12E5D0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9032" y="5257800"/>
            <a:ext cx="20116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2F7D57"/>
                </a:solidFill>
              </a:defRPr>
            </a:pPr>
            <a:r>
              <a:rPr sz="938" b="1">
                <a:solidFill>
                  <a:srgbClr val="2F7D57"/>
                </a:solidFill>
              </a:rPr>
              <a:t>↑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3482543-3F50-491C-B16F-B682DA52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0" y="4943475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9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E018048-9465-4320-A065-44BDBF87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171950"/>
            <a:ext cx="1485900" cy="15430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93A04AE-CC4E-428C-B097-A850F57E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267200"/>
            <a:ext cx="1295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产业面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F0358289-62D2-43C7-B8CD-992A2BDC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543425"/>
            <a:ext cx="1219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B1290FE8-8C29-464E-93DD-35D5A377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610100"/>
            <a:ext cx="1295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606772"/>
                </a:solidFill>
              </a:defRPr>
            </a:pPr>
            <a:r>
              <a:rPr sz="848" b="0">
                <a:solidFill>
                  <a:srgbClr val="606772"/>
                </a:solidFill>
              </a:rPr>
              <a:t>利润与库存确认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5F7E4280-F7A2-4D94-9ABE-E3DF2F8E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76800"/>
            <a:ext cx="603504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202020"/>
                </a:solidFill>
              </a:defRPr>
            </a:pPr>
            <a:r>
              <a:rPr sz="810" b="1">
                <a:solidFill>
                  <a:srgbClr val="202020"/>
                </a:solidFill>
              </a:rPr>
              <a:t>工业增加值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28CC020-1E60-4CB6-90CD-030269B1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4876800"/>
            <a:ext cx="427482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40" b="1">
                <a:solidFill>
                  <a:srgbClr val="102641"/>
                </a:solidFill>
              </a:defRPr>
            </a:pPr>
            <a:r>
              <a:rPr sz="840" b="1">
                <a:solidFill>
                  <a:srgbClr val="102641"/>
                </a:solidFill>
              </a:rPr>
              <a:t>5.7%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ECB0C78-EF37-468A-9215-531C03C97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132" y="4876800"/>
            <a:ext cx="20116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C00024"/>
                </a:solidFill>
              </a:defRPr>
            </a:pPr>
            <a:r>
              <a:rPr sz="938" b="1">
                <a:solidFill>
                  <a:srgbClr val="C00024"/>
                </a:solidFill>
              </a:rPr>
              <a:t>↓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46C845B-E596-44B8-BC78-6CFE1501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67300"/>
            <a:ext cx="603504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202020"/>
                </a:solidFill>
              </a:defRPr>
            </a:pPr>
            <a:r>
              <a:rPr sz="810" b="1">
                <a:solidFill>
                  <a:srgbClr val="202020"/>
                </a:solidFill>
              </a:rPr>
              <a:t>沪深300利润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49CCD3BA-1EFC-41E5-9E80-FD78E4B4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5067300"/>
            <a:ext cx="427482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40" b="1">
                <a:solidFill>
                  <a:srgbClr val="102641"/>
                </a:solidFill>
              </a:defRPr>
            </a:pPr>
            <a:r>
              <a:rPr sz="840" b="1">
                <a:solidFill>
                  <a:srgbClr val="102641"/>
                </a:solidFill>
              </a:rPr>
              <a:t>3.7%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0AD98A37-8DCE-4761-B235-9E12F73C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132" y="5067300"/>
            <a:ext cx="20116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C00024"/>
                </a:solidFill>
              </a:defRPr>
            </a:pPr>
            <a:r>
              <a:rPr sz="938" b="1">
                <a:solidFill>
                  <a:srgbClr val="C00024"/>
                </a:solidFill>
              </a:rPr>
              <a:t>↓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1771A0FA-A88E-417C-B5E0-9859018C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257800"/>
            <a:ext cx="603504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202020"/>
                </a:solidFill>
              </a:defRPr>
            </a:pPr>
            <a:r>
              <a:rPr sz="810" b="1">
                <a:solidFill>
                  <a:srgbClr val="202020"/>
                </a:solidFill>
              </a:rPr>
              <a:t>创业板利润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B343601E-1BB8-4C85-9D35-E6F323528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5257800"/>
            <a:ext cx="427482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40" b="1">
                <a:solidFill>
                  <a:srgbClr val="102641"/>
                </a:solidFill>
              </a:defRPr>
            </a:pPr>
            <a:r>
              <a:rPr sz="840" b="1">
                <a:solidFill>
                  <a:srgbClr val="102641"/>
                </a:solidFill>
              </a:rPr>
              <a:t>34.5%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6C274063-76D6-461E-ABC8-D029AD3B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132" y="5257800"/>
            <a:ext cx="20116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C00024"/>
                </a:solidFill>
              </a:defRPr>
            </a:pPr>
            <a:r>
              <a:rPr sz="938" b="1">
                <a:solidFill>
                  <a:srgbClr val="C00024"/>
                </a:solidFill>
              </a:rPr>
              <a:t>↓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E8EE58C-413C-4431-9AB5-9E83BFE9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448300"/>
            <a:ext cx="603504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202020"/>
                </a:solidFill>
              </a:defRPr>
            </a:pPr>
            <a:r>
              <a:rPr sz="810" b="1">
                <a:solidFill>
                  <a:srgbClr val="202020"/>
                </a:solidFill>
              </a:rPr>
              <a:t>沪深300PE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1F2B3C42-7793-43CC-9C72-56DBB7CFC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5448300"/>
            <a:ext cx="427482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40" b="1">
                <a:solidFill>
                  <a:srgbClr val="102641"/>
                </a:solidFill>
              </a:defRPr>
            </a:pPr>
            <a:r>
              <a:rPr sz="840" b="1">
                <a:solidFill>
                  <a:srgbClr val="102641"/>
                </a:solidFill>
              </a:rPr>
              <a:t>14.5x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43250AC-3F49-40A9-82FB-9739B44A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132" y="5448300"/>
            <a:ext cx="20116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2F7D57"/>
                </a:solidFill>
              </a:defRPr>
            </a:pPr>
            <a:r>
              <a:rPr sz="938" b="1">
                <a:solidFill>
                  <a:srgbClr val="2F7D57"/>
                </a:solidFill>
              </a:rPr>
              <a:t>↑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0DC8E48-A8F6-4E2B-9619-7F3CE84C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29300"/>
            <a:ext cx="30480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111111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AE7046E9-34C9-411F-8789-E3E7E6E2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848350"/>
            <a:ext cx="2819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99046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财政政策：三个规模创“新高”，整体力度延续。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C6FCEE6-8AA0-4C8F-BBC9-633CCC91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829300"/>
            <a:ext cx="11239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111111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18B3635-625D-4E73-9670-85E5AB730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848350"/>
            <a:ext cx="895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产业政策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6F5EA4B8-5205-4D44-BDC9-438364BB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028700"/>
            <a:ext cx="9715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2641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57E91A7E-D038-4381-903B-3FE5189E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0477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641"/>
                </a:solidFill>
              </a:defRPr>
            </a:pPr>
            <a:r>
              <a:rPr sz="900" b="1">
                <a:solidFill>
                  <a:srgbClr val="102641"/>
                </a:solidFill>
              </a:rPr>
              <a:t>资产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FC800089-0D53-4397-A12D-119C5EDC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028700"/>
            <a:ext cx="9715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2641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E3DA1D77-32FD-4C64-849E-9281919DC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0477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641"/>
                </a:solidFill>
              </a:defRPr>
            </a:pPr>
            <a:r>
              <a:rPr sz="900" b="1">
                <a:solidFill>
                  <a:srgbClr val="102641"/>
                </a:solidFill>
              </a:rPr>
              <a:t>配置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49DF0133-B392-4993-8F6F-F920A237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447800"/>
            <a:ext cx="4343400" cy="4495800"/>
          </a:xfrm>
          <a:prstGeom xmlns:a="http://schemas.openxmlformats.org/drawingml/2006/main" prst="roundRect">
            <a:avLst>
              <a:gd name="adj" fmla="val 1754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10478">
            <a:solidFill>
              <a:srgbClr val="D8DEE8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B1590B75-DDC6-43BF-8EB7-6B9A0E67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562100"/>
            <a:ext cx="16002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02641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59AEA4EA-4955-4765-9317-B5290809E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562100"/>
            <a:ext cx="3238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6668">
            <a:solidFill>
              <a:srgbClr val="102641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9AD0E7B2-A3C4-48A4-9124-3A8A6F85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133600"/>
            <a:ext cx="228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96733"/>
          </a:bodyPr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02641"/>
                </a:solidFill>
              </a:defRPr>
            </a:pPr>
            <a:r>
              <a:rPr sz="1163" b="1">
                <a:solidFill>
                  <a:srgbClr val="102641"/>
                </a:solidFill>
              </a:rPr>
              <a:t>A股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4E5C31AA-BEB0-4389-B3B1-D0A42B6B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76400"/>
            <a:ext cx="11049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E4E9F0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5DB481E9-07B0-413F-BE31-8DD4FE26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1704975"/>
            <a:ext cx="361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55D8B"/>
                </a:solidFill>
              </a:defRPr>
            </a:pPr>
            <a:r>
              <a:rPr sz="675" b="1">
                <a:solidFill>
                  <a:srgbClr val="155D8B"/>
                </a:solidFill>
              </a:rPr>
              <a:t>资金面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5284D25E-E280-4E16-9ABF-8590DFFF9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714500"/>
            <a:ext cx="262128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202020"/>
                </a:solidFill>
              </a:defRPr>
            </a:pPr>
            <a:r>
              <a:rPr sz="615" b="1">
                <a:solidFill>
                  <a:srgbClr val="202020"/>
                </a:solidFill>
              </a:rPr>
              <a:t>成交额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A73C1564-B3A8-4910-8BA1-BCA4A526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678" y="1714500"/>
            <a:ext cx="256032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91463"/>
          </a:bodyPr>
          <a:lstStyle xmlns:a="http://schemas.openxmlformats.org/drawingml/2006/main"/>
          <a:p xmlns:a="http://schemas.openxmlformats.org/drawingml/2006/main">
            <a:pPr algn="r">
              <a:defRPr sz="615" b="1">
                <a:solidFill>
                  <a:srgbClr val="102641"/>
                </a:solidFill>
              </a:defRPr>
            </a:pPr>
            <a:r>
              <a:rPr sz="615" b="1">
                <a:solidFill>
                  <a:srgbClr val="102641"/>
                </a:solidFill>
              </a:rPr>
              <a:t>2.43万亿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D711D10B-5B9D-456D-8B96-5367330EC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806" y="1714500"/>
            <a:ext cx="85344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35" b="1">
                <a:solidFill>
                  <a:srgbClr val="C00024"/>
                </a:solidFill>
              </a:defRPr>
            </a:pPr>
            <a:r>
              <a:rPr sz="735" b="1">
                <a:solidFill>
                  <a:srgbClr val="C00024"/>
                </a:solidFill>
              </a:rPr>
              <a:t>↓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CBF74322-7FB6-482E-AF2A-503B27CF6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57375"/>
            <a:ext cx="262128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91463"/>
          </a:bodyPr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202020"/>
                </a:solidFill>
              </a:defRPr>
            </a:pPr>
            <a:r>
              <a:rPr sz="615" b="1">
                <a:solidFill>
                  <a:srgbClr val="202020"/>
                </a:solidFill>
              </a:rPr>
              <a:t>北向成交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3C92B65B-893A-4634-89DA-ABF6745A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678" y="1857375"/>
            <a:ext cx="256032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15" b="1">
                <a:solidFill>
                  <a:srgbClr val="102641"/>
                </a:solidFill>
              </a:defRPr>
            </a:pPr>
            <a:r>
              <a:rPr sz="615" b="1">
                <a:solidFill>
                  <a:srgbClr val="102641"/>
                </a:solidFill>
              </a:rPr>
              <a:t>3106亿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61BF1AE8-6771-490E-B4BC-B4A610C0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806" y="1857375"/>
            <a:ext cx="85344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35" b="1">
                <a:solidFill>
                  <a:srgbClr val="2F7D57"/>
                </a:solidFill>
              </a:defRPr>
            </a:pPr>
            <a:r>
              <a:rPr sz="735" b="1">
                <a:solidFill>
                  <a:srgbClr val="2F7D57"/>
                </a:solidFill>
              </a:rPr>
              <a:t>↑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28CAF6B5-E2D7-4995-B4D1-02CA3FBB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00250"/>
            <a:ext cx="262128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91463"/>
          </a:bodyPr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202020"/>
                </a:solidFill>
              </a:defRPr>
            </a:pPr>
            <a:r>
              <a:rPr sz="615" b="1">
                <a:solidFill>
                  <a:srgbClr val="202020"/>
                </a:solidFill>
              </a:rPr>
              <a:t>两融余额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6CA13B67-7F7E-4E43-AE7F-21D380B2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678" y="2000250"/>
            <a:ext cx="256032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91463"/>
          </a:bodyPr>
          <a:lstStyle xmlns:a="http://schemas.openxmlformats.org/drawingml/2006/main"/>
          <a:p xmlns:a="http://schemas.openxmlformats.org/drawingml/2006/main">
            <a:pPr algn="r">
              <a:defRPr sz="615" b="1">
                <a:solidFill>
                  <a:srgbClr val="102641"/>
                </a:solidFill>
              </a:defRPr>
            </a:pPr>
            <a:r>
              <a:rPr sz="615" b="1">
                <a:solidFill>
                  <a:srgbClr val="102641"/>
                </a:solidFill>
              </a:rPr>
              <a:t>2.70万亿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9D1C9C77-5485-4FEB-9E60-A6B62187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806" y="2000250"/>
            <a:ext cx="85344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35" b="1">
                <a:solidFill>
                  <a:srgbClr val="2F7D57"/>
                </a:solidFill>
              </a:defRPr>
            </a:pPr>
            <a:r>
              <a:rPr sz="735" b="1">
                <a:solidFill>
                  <a:srgbClr val="2F7D57"/>
                </a:solidFill>
              </a:rPr>
              <a:t>↑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2D68E129-9380-4D55-9D39-3C46A96F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43150"/>
            <a:ext cx="11049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E4E9F0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7F81E9AA-308E-457E-91E4-D998CCBC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371725"/>
            <a:ext cx="361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C00024"/>
                </a:solidFill>
              </a:defRPr>
            </a:pPr>
            <a:r>
              <a:rPr sz="675" b="1">
                <a:solidFill>
                  <a:srgbClr val="C00024"/>
                </a:solidFill>
              </a:rPr>
              <a:t>情绪面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639B97EF-6DF2-480F-8F52-2AEE8DF2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81250"/>
            <a:ext cx="262128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91463"/>
          </a:bodyPr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202020"/>
                </a:solidFill>
              </a:defRPr>
            </a:pPr>
            <a:r>
              <a:rPr sz="615" b="1">
                <a:solidFill>
                  <a:srgbClr val="202020"/>
                </a:solidFill>
              </a:rPr>
              <a:t>上证指数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D415D584-1507-4904-AF52-F47E9A50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678" y="2381250"/>
            <a:ext cx="256032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15" b="1">
                <a:solidFill>
                  <a:srgbClr val="102641"/>
                </a:solidFill>
              </a:defRPr>
            </a:pPr>
            <a:r>
              <a:rPr sz="615" b="1">
                <a:solidFill>
                  <a:srgbClr val="102641"/>
                </a:solidFill>
              </a:rPr>
              <a:t>4085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A4DD0CB2-C28F-44A5-81FB-5F093815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806" y="2381250"/>
            <a:ext cx="85344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35" b="1">
                <a:solidFill>
                  <a:srgbClr val="2F7D57"/>
                </a:solidFill>
              </a:defRPr>
            </a:pPr>
            <a:r>
              <a:rPr sz="735" b="1">
                <a:solidFill>
                  <a:srgbClr val="2F7D57"/>
                </a:solidFill>
              </a:rPr>
              <a:t>↑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9758F509-3EC8-4C1B-BC82-3CF3BF60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24125"/>
            <a:ext cx="262128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91463"/>
          </a:bodyPr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202020"/>
                </a:solidFill>
              </a:defRPr>
            </a:pPr>
            <a:r>
              <a:rPr sz="615" b="1">
                <a:solidFill>
                  <a:srgbClr val="202020"/>
                </a:solidFill>
              </a:rPr>
              <a:t>沪深300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3AD00F13-D13B-45E4-8306-FAC0AFBB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678" y="2524125"/>
            <a:ext cx="256032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15" b="1">
                <a:solidFill>
                  <a:srgbClr val="102641"/>
                </a:solidFill>
              </a:defRPr>
            </a:pPr>
            <a:r>
              <a:rPr sz="615" b="1">
                <a:solidFill>
                  <a:srgbClr val="102641"/>
                </a:solidFill>
              </a:rPr>
              <a:t>4768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DAFFA827-3750-4E09-A32E-FA7A336B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806" y="2524125"/>
            <a:ext cx="85344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35" b="1">
                <a:solidFill>
                  <a:srgbClr val="2F7D57"/>
                </a:solidFill>
              </a:defRPr>
            </a:pPr>
            <a:r>
              <a:rPr sz="735" b="1">
                <a:solidFill>
                  <a:srgbClr val="2F7D57"/>
                </a:solidFill>
              </a:rPr>
              <a:t>↑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661A01C4-1B08-4D9A-BF34-789483B5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67000"/>
            <a:ext cx="262128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202020"/>
                </a:solidFill>
              </a:defRPr>
            </a:pPr>
            <a:r>
              <a:rPr sz="615" b="1">
                <a:solidFill>
                  <a:srgbClr val="202020"/>
                </a:solidFill>
              </a:rPr>
              <a:t>新开户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D6AA3035-B754-4FAA-8435-174273FF1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678" y="2667000"/>
            <a:ext cx="256032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91463"/>
          </a:bodyPr>
          <a:lstStyle xmlns:a="http://schemas.openxmlformats.org/drawingml/2006/main"/>
          <a:p xmlns:a="http://schemas.openxmlformats.org/drawingml/2006/main">
            <a:pPr algn="r">
              <a:defRPr sz="615" b="1">
                <a:solidFill>
                  <a:srgbClr val="102641"/>
                </a:solidFill>
              </a:defRPr>
            </a:pPr>
            <a:r>
              <a:rPr sz="615" b="1">
                <a:solidFill>
                  <a:srgbClr val="102641"/>
                </a:solidFill>
              </a:rPr>
              <a:t>459万户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5D364FE0-B8D8-4F2A-9E1B-E6DA0492C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806" y="2667000"/>
            <a:ext cx="85344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35" b="1">
                <a:solidFill>
                  <a:srgbClr val="2F7D57"/>
                </a:solidFill>
              </a:defRPr>
            </a:pPr>
            <a:r>
              <a:rPr sz="735" b="1">
                <a:solidFill>
                  <a:srgbClr val="2F7D57"/>
                </a:solidFill>
              </a:rPr>
              <a:t>↑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770F937D-C677-44D5-9B7E-668EF1F22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152650"/>
            <a:ext cx="1714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9E4D0"/>
          </a:solidFill>
          <a:ln xmlns:a="http://schemas.openxmlformats.org/drawingml/2006/main" w="0">
            <a:solidFill>
              <a:srgbClr val="F9E4D0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AE0BD706-B344-4B5C-B364-A37858DE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562100"/>
            <a:ext cx="21336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02641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05C247B5-2A1F-4369-AB02-DF1B84DCF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562100"/>
            <a:ext cx="2133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02641"/>
          </a:solidFill>
          <a:ln xmlns:a="http://schemas.openxmlformats.org/drawingml/2006/main" w="0">
            <a:solidFill>
              <a:srgbClr val="102641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F66BAB97-FB13-4218-A64C-A40ED085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590675"/>
            <a:ext cx="1943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A股策略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D31CED1F-C0E1-40D9-8889-7EC08F01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885950"/>
            <a:ext cx="3619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7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D1A81AD5-2126-403C-BB42-00A915EC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895475"/>
            <a:ext cx="361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102641"/>
                </a:solidFill>
              </a:defRPr>
            </a:pPr>
            <a:r>
              <a:rPr sz="660" b="1">
                <a:solidFill>
                  <a:srgbClr val="102641"/>
                </a:solidFill>
              </a:rPr>
              <a:t>结论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9A0C8865-3E3B-4ED4-9A08-3E41ADF5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88595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86538"/>
          </a:bodyPr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102641"/>
                </a:solidFill>
              </a:defRPr>
            </a:pPr>
            <a:r>
              <a:rPr sz="780" b="1">
                <a:solidFill>
                  <a:srgbClr val="102641"/>
                </a:solidFill>
              </a:rPr>
              <a:t>维持标配，控制仓位并预留风险应对仓位。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3FB42F00-E3E6-431E-8577-11C262B65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14550"/>
            <a:ext cx="190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2724AD00-C126-4107-9CE6-B4803F85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90750"/>
            <a:ext cx="3619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9A9EDDFF-5531-4DFA-A2EF-8F45299C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200275"/>
            <a:ext cx="361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C00024"/>
                </a:solidFill>
              </a:defRPr>
            </a:pPr>
            <a:r>
              <a:rPr sz="660" b="1">
                <a:solidFill>
                  <a:srgbClr val="C00024"/>
                </a:solidFill>
              </a:rPr>
              <a:t>操作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81465261-B95B-4D91-BBE6-8BDC0352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00300"/>
            <a:ext cx="190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202020"/>
                </a:solidFill>
              </a:defRPr>
            </a:pPr>
            <a:r>
              <a:rPr sz="660" b="0">
                <a:solidFill>
                  <a:srgbClr val="202020"/>
                </a:solidFill>
              </a:rPr>
              <a:t>①可逢跌定投，沿用“小跌不买、大跌才买”的方式。</a:t>
            </a:r>
          </a:p>
          <a:p xmlns:a="http://schemas.openxmlformats.org/drawingml/2006/main">
            <a:pPr algn="l">
              <a:defRPr sz="660" b="0">
                <a:solidFill>
                  <a:srgbClr val="202020"/>
                </a:solidFill>
              </a:defRPr>
            </a:pPr>
            <a:r>
              <a:rPr sz="660" b="0">
                <a:solidFill>
                  <a:srgbClr val="202020"/>
                </a:solidFill>
              </a:rPr>
              <a:t>②快速拉涨中尽量以原有仓位为主，减少追高。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55963886-068B-4EEB-96A2-18613844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62300"/>
            <a:ext cx="16002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02641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BB7E8EAB-093D-4D69-87A1-C93C2406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62300"/>
            <a:ext cx="3238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6668">
            <a:solidFill>
              <a:srgbClr val="102641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E53B688E-33F8-40BA-8057-0FBEE3F7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686175"/>
            <a:ext cx="228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96733"/>
          </a:bodyPr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02641"/>
                </a:solidFill>
              </a:defRPr>
            </a:pPr>
            <a:r>
              <a:rPr sz="1163" b="1">
                <a:solidFill>
                  <a:srgbClr val="102641"/>
                </a:solidFill>
              </a:rPr>
              <a:t>中债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94C5706D-7614-43CA-A114-88EF2507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76600"/>
            <a:ext cx="11049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E4E9F0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AEE8A6F1-E653-4869-B854-9C129706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305175"/>
            <a:ext cx="361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55D8B"/>
                </a:solidFill>
              </a:defRPr>
            </a:pPr>
            <a:r>
              <a:rPr sz="675" b="1">
                <a:solidFill>
                  <a:srgbClr val="155D8B"/>
                </a:solidFill>
              </a:rPr>
              <a:t>资金面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1CF39FC1-78EA-486B-816B-4F3D3D860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14700"/>
            <a:ext cx="262128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202020"/>
                </a:solidFill>
              </a:defRPr>
            </a:pPr>
            <a:r>
              <a:rPr sz="615" b="1">
                <a:solidFill>
                  <a:srgbClr val="202020"/>
                </a:solidFill>
              </a:rPr>
              <a:t>1Y国债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19244B59-125B-4FDA-9914-B6CB0399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678" y="3314700"/>
            <a:ext cx="256032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15" b="1">
                <a:solidFill>
                  <a:srgbClr val="102641"/>
                </a:solidFill>
              </a:defRPr>
            </a:pPr>
            <a:r>
              <a:rPr sz="615" b="1">
                <a:solidFill>
                  <a:srgbClr val="102641"/>
                </a:solidFill>
              </a:rPr>
              <a:t>1.16%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B5757847-C09C-4ADE-9B89-ED26EC89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806" y="3314700"/>
            <a:ext cx="85344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35" b="1">
                <a:solidFill>
                  <a:srgbClr val="C00024"/>
                </a:solidFill>
              </a:defRPr>
            </a:pPr>
            <a:r>
              <a:rPr sz="735" b="1">
                <a:solidFill>
                  <a:srgbClr val="C00024"/>
                </a:solidFill>
              </a:rPr>
              <a:t>↓</a:t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7FA3BBA1-8FAA-4796-9DC3-F3D3834BA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57575"/>
            <a:ext cx="262128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91463"/>
          </a:bodyPr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202020"/>
                </a:solidFill>
              </a:defRPr>
            </a:pPr>
            <a:r>
              <a:rPr sz="615" b="1">
                <a:solidFill>
                  <a:srgbClr val="202020"/>
                </a:solidFill>
              </a:rPr>
              <a:t>10Y国债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DE4A5DE6-F619-44DD-9073-E5519B6B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678" y="3457575"/>
            <a:ext cx="256032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15" b="1">
                <a:solidFill>
                  <a:srgbClr val="102641"/>
                </a:solidFill>
              </a:defRPr>
            </a:pPr>
            <a:r>
              <a:rPr sz="615" b="1">
                <a:solidFill>
                  <a:srgbClr val="102641"/>
                </a:solidFill>
              </a:rPr>
              <a:t>1.76%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F8B62FB5-E82A-4344-A240-9FFAF560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806" y="3457575"/>
            <a:ext cx="85344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91383"/>
          </a:bodyPr>
          <a:lstStyle xmlns:a="http://schemas.openxmlformats.org/drawingml/2006/main"/>
          <a:p xmlns:a="http://schemas.openxmlformats.org/drawingml/2006/main">
            <a:pPr algn="ctr">
              <a:defRPr sz="735" b="1">
                <a:solidFill>
                  <a:srgbClr val="C99A2E"/>
                </a:solidFill>
              </a:defRPr>
            </a:pPr>
            <a:r>
              <a:rPr sz="735" b="1">
                <a:solidFill>
                  <a:srgbClr val="C99A2E"/>
                </a:solidFill>
              </a:rPr>
              <a:t>→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4C66C7C1-4B60-4A6A-B8CE-33247088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00450"/>
            <a:ext cx="262128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202020"/>
                </a:solidFill>
              </a:defRPr>
            </a:pPr>
            <a:r>
              <a:rPr sz="615" b="1">
                <a:solidFill>
                  <a:srgbClr val="202020"/>
                </a:solidFill>
              </a:rPr>
              <a:t>存单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BE9744E8-F2DE-4041-AFF4-A0D630DE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678" y="3600450"/>
            <a:ext cx="256032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15" b="1">
                <a:solidFill>
                  <a:srgbClr val="102641"/>
                </a:solidFill>
              </a:defRPr>
            </a:pPr>
            <a:r>
              <a:rPr sz="615" b="1">
                <a:solidFill>
                  <a:srgbClr val="102641"/>
                </a:solidFill>
              </a:rPr>
              <a:t>1.47%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10CA172B-BE1B-432B-87BA-AD546453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806" y="3600450"/>
            <a:ext cx="85344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35" b="1">
                <a:solidFill>
                  <a:srgbClr val="C00024"/>
                </a:solidFill>
              </a:defRPr>
            </a:pPr>
            <a:r>
              <a:rPr sz="735" b="1">
                <a:solidFill>
                  <a:srgbClr val="C00024"/>
                </a:solidFill>
              </a:rPr>
              <a:t>↓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90A6F9A5-FC43-4618-89DC-ACBE61B7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43350"/>
            <a:ext cx="11049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E4E9F0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1B554D89-A709-4BCE-A923-E60425CF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971925"/>
            <a:ext cx="361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11111"/>
                </a:solidFill>
              </a:defRPr>
            </a:pPr>
            <a:r>
              <a:rPr sz="675" b="1">
                <a:solidFill>
                  <a:srgbClr val="111111"/>
                </a:solidFill>
              </a:rPr>
              <a:t>估值面</a:t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D9BDFEB1-2B12-474F-91BE-4044A3E8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81450"/>
            <a:ext cx="262128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202020"/>
                </a:solidFill>
              </a:defRPr>
            </a:pPr>
            <a:r>
              <a:rPr sz="615" b="1">
                <a:solidFill>
                  <a:srgbClr val="202020"/>
                </a:solidFill>
              </a:rPr>
              <a:t>10Y-1Y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8231BA6E-4D80-4D53-8D2B-D9CD09E9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678" y="3981450"/>
            <a:ext cx="256032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15" b="1">
                <a:solidFill>
                  <a:srgbClr val="102641"/>
                </a:solidFill>
              </a:defRPr>
            </a:pPr>
            <a:r>
              <a:rPr sz="615" b="1">
                <a:solidFill>
                  <a:srgbClr val="102641"/>
                </a:solidFill>
              </a:rPr>
              <a:t>60.5bp</a:t>
            </a: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C043A47D-1AB0-4F5F-948F-A3E3D1547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806" y="3981450"/>
            <a:ext cx="85344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35" b="1">
                <a:solidFill>
                  <a:srgbClr val="2F7D57"/>
                </a:solidFill>
              </a:defRPr>
            </a:pPr>
            <a:r>
              <a:rPr sz="735" b="1">
                <a:solidFill>
                  <a:srgbClr val="2F7D57"/>
                </a:solidFill>
              </a:rPr>
              <a:t>↑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2C754AF9-2EC4-4A1C-AAE8-0256C2CE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24325"/>
            <a:ext cx="262128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91463"/>
          </a:bodyPr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202020"/>
                </a:solidFill>
              </a:defRPr>
            </a:pPr>
            <a:r>
              <a:rPr sz="615" b="1">
                <a:solidFill>
                  <a:srgbClr val="202020"/>
                </a:solidFill>
              </a:rPr>
              <a:t>信用利差</a:t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108305F5-228F-458C-ACA5-B90D833AF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678" y="4124325"/>
            <a:ext cx="256032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15" b="1">
                <a:solidFill>
                  <a:srgbClr val="102641"/>
                </a:solidFill>
              </a:defRPr>
            </a:pPr>
            <a:r>
              <a:rPr sz="615" b="1">
                <a:solidFill>
                  <a:srgbClr val="102641"/>
                </a:solidFill>
              </a:rPr>
              <a:t>33.0bp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28FE8562-771A-4F63-B34A-5880C442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806" y="4124325"/>
            <a:ext cx="85344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91383"/>
          </a:bodyPr>
          <a:lstStyle xmlns:a="http://schemas.openxmlformats.org/drawingml/2006/main"/>
          <a:p xmlns:a="http://schemas.openxmlformats.org/drawingml/2006/main">
            <a:pPr algn="ctr">
              <a:defRPr sz="735" b="1">
                <a:solidFill>
                  <a:srgbClr val="C99A2E"/>
                </a:solidFill>
              </a:defRPr>
            </a:pPr>
            <a:r>
              <a:rPr sz="735" b="1">
                <a:solidFill>
                  <a:srgbClr val="C99A2E"/>
                </a:solidFill>
              </a:rPr>
              <a:t>→</a:t>
            </a:r>
          </a:p>
        </p:txBody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4D825515-281B-4F03-BBC1-C7A63AD0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733800"/>
            <a:ext cx="1714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9E4D0"/>
          </a:solidFill>
          <a:ln xmlns:a="http://schemas.openxmlformats.org/drawingml/2006/main" w="0">
            <a:solidFill>
              <a:srgbClr val="F9E4D0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689D3427-7C7F-4E0B-9749-364D1E7A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162300"/>
            <a:ext cx="21336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02641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A56379FC-43F3-400E-9681-F0789372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162300"/>
            <a:ext cx="2133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02641"/>
          </a:solidFill>
          <a:ln xmlns:a="http://schemas.openxmlformats.org/drawingml/2006/main" w="0">
            <a:solidFill>
              <a:srgbClr val="102641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95709885-1443-4BDA-97FD-823386DE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190875"/>
            <a:ext cx="1943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中债策略</a:t>
            </a:r>
          </a:p>
        </p:txBody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1C8B5A43-BD5A-4B6D-ADC3-A82B162E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86150"/>
            <a:ext cx="3619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7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E813E8FA-CE78-462D-8416-101F27AC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95675"/>
            <a:ext cx="361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102641"/>
                </a:solidFill>
              </a:defRPr>
            </a:pPr>
            <a:r>
              <a:rPr sz="660" b="1">
                <a:solidFill>
                  <a:srgbClr val="102641"/>
                </a:solidFill>
              </a:rPr>
              <a:t>结论</a:t>
            </a:r>
          </a:p>
        </p:txBody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97924F7C-1C47-42BE-BD53-3A11F753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48615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86538"/>
          </a:bodyPr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102641"/>
                </a:solidFill>
              </a:defRPr>
            </a:pPr>
            <a:r>
              <a:rPr sz="780" b="1">
                <a:solidFill>
                  <a:srgbClr val="102641"/>
                </a:solidFill>
              </a:rPr>
              <a:t>维持标配，短期可观察波动，中期对冲价值提升。</a:t>
            </a:r>
          </a:p>
        </p:txBody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F3C32E12-BBB0-4DEE-9B23-B744D2ED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714750"/>
            <a:ext cx="190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44B25FEC-3BD1-41F7-A4EB-13E8039B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790950"/>
            <a:ext cx="3619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0808939C-C307-4CBD-ABE3-D71518C2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800475"/>
            <a:ext cx="361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C00024"/>
                </a:solidFill>
              </a:defRPr>
            </a:pPr>
            <a:r>
              <a:rPr sz="660" b="1">
                <a:solidFill>
                  <a:srgbClr val="C00024"/>
                </a:solidFill>
              </a:rPr>
              <a:t>操作</a:t>
            </a:r>
          </a:p>
        </p:txBody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D4BC460D-F7BB-43DD-9038-8227A49C6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000500"/>
            <a:ext cx="1905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202020"/>
                </a:solidFill>
              </a:defRPr>
            </a:pPr>
            <a:r>
              <a:rPr sz="660" b="0">
                <a:solidFill>
                  <a:srgbClr val="202020"/>
                </a:solidFill>
              </a:rPr>
              <a:t>稳健客户：期限匹配理财仍是极稳健客户的首选。</a:t>
            </a:r>
          </a:p>
          <a:p xmlns:a="http://schemas.openxmlformats.org/drawingml/2006/main">
            <a:pPr algn="l">
              <a:defRPr sz="660" b="0">
                <a:solidFill>
                  <a:srgbClr val="202020"/>
                </a:solidFill>
              </a:defRPr>
            </a:pPr>
            <a:r>
              <a:rPr sz="660" b="0">
                <a:solidFill>
                  <a:srgbClr val="202020"/>
                </a:solidFill>
              </a:rPr>
              <a:t>若风险偏好回落，固收作为对冲资产的重要性提升。</a:t>
            </a:r>
          </a:p>
        </p:txBody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18A63263-B2FC-4B7A-9E85-7C7A7A81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648200"/>
            <a:ext cx="16002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02641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C091560F-7C2D-4C6C-8C55-62267F39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648200"/>
            <a:ext cx="3238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6668">
            <a:solidFill>
              <a:srgbClr val="102641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69025513-42DF-48AF-8A34-3459BA96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153025"/>
            <a:ext cx="228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96733"/>
          </a:bodyPr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02641"/>
                </a:solidFill>
              </a:defRPr>
            </a:pPr>
            <a:r>
              <a:rPr sz="1163" b="1">
                <a:solidFill>
                  <a:srgbClr val="102641"/>
                </a:solidFill>
              </a:rPr>
              <a:t>港股</a:t>
            </a:r>
          </a:p>
        </p:txBody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EA01F5B1-B4F0-4606-B727-1395060B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762500"/>
            <a:ext cx="110490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E4E9F0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AFE01228-4391-4375-966A-D279571F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4791075"/>
            <a:ext cx="361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55D8B"/>
                </a:solidFill>
              </a:defRPr>
            </a:pPr>
            <a:r>
              <a:rPr sz="675" b="1">
                <a:solidFill>
                  <a:srgbClr val="155D8B"/>
                </a:solidFill>
              </a:rPr>
              <a:t>资金面</a:t>
            </a:r>
          </a:p>
        </p:txBody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ED22F802-80A8-4A11-9DAB-612DB72C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800600"/>
            <a:ext cx="262128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91463"/>
          </a:bodyPr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202020"/>
                </a:solidFill>
              </a:defRPr>
            </a:pPr>
            <a:r>
              <a:rPr sz="615" b="1">
                <a:solidFill>
                  <a:srgbClr val="202020"/>
                </a:solidFill>
              </a:rPr>
              <a:t>南向资金</a:t>
            </a:r>
          </a:p>
        </p:txBody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71A1676E-2A83-43A0-B84A-34C3D3E4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678" y="4800600"/>
            <a:ext cx="256032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15" b="1">
                <a:solidFill>
                  <a:srgbClr val="102641"/>
                </a:solidFill>
              </a:defRPr>
            </a:pPr>
            <a:r>
              <a:rPr sz="615" b="1">
                <a:solidFill>
                  <a:srgbClr val="102641"/>
                </a:solidFill>
              </a:rPr>
              <a:t>-34亿</a:t>
            </a:r>
          </a:p>
        </p:txBody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84A9EB41-CFDB-4336-B111-F1121E91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806" y="4800600"/>
            <a:ext cx="85344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35" b="1">
                <a:solidFill>
                  <a:srgbClr val="C00024"/>
                </a:solidFill>
              </a:defRPr>
            </a:pPr>
            <a:r>
              <a:rPr sz="735" b="1">
                <a:solidFill>
                  <a:srgbClr val="C00024"/>
                </a:solidFill>
              </a:rPr>
              <a:t>↓</a:t>
            </a:r>
          </a:p>
        </p:txBody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9A630CF8-1B6D-48CA-8204-0064713F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43500"/>
            <a:ext cx="11049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E4E9F0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D9E0C2C1-2E19-4B7E-B4A2-8B8EDD3E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5172075"/>
            <a:ext cx="361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C00024"/>
                </a:solidFill>
              </a:defRPr>
            </a:pPr>
            <a:r>
              <a:rPr sz="675" b="1">
                <a:solidFill>
                  <a:srgbClr val="C00024"/>
                </a:solidFill>
              </a:rPr>
              <a:t>情绪面</a:t>
            </a:r>
          </a:p>
        </p:txBody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78FF6519-A53D-4FD2-848E-0F7C204F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181600"/>
            <a:ext cx="262128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91463"/>
          </a:bodyPr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202020"/>
                </a:solidFill>
              </a:defRPr>
            </a:pPr>
            <a:r>
              <a:rPr sz="615" b="1">
                <a:solidFill>
                  <a:srgbClr val="202020"/>
                </a:solidFill>
              </a:rPr>
              <a:t>恒生指数</a:t>
            </a:r>
          </a:p>
        </p:txBody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D98DE3AC-E190-4838-9FAC-95B951F3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678" y="5181600"/>
            <a:ext cx="256032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15" b="1">
                <a:solidFill>
                  <a:srgbClr val="102641"/>
                </a:solidFill>
              </a:defRPr>
            </a:pPr>
            <a:r>
              <a:rPr sz="615" b="1">
                <a:solidFill>
                  <a:srgbClr val="102641"/>
                </a:solidFill>
              </a:rPr>
              <a:t>26361</a:t>
            </a:r>
          </a:p>
        </p:txBody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1D2F9033-276F-4C8D-8956-2773E1DC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806" y="5181600"/>
            <a:ext cx="85344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35" b="1">
                <a:solidFill>
                  <a:srgbClr val="2F7D57"/>
                </a:solidFill>
              </a:defRPr>
            </a:pPr>
            <a:r>
              <a:rPr sz="735" b="1">
                <a:solidFill>
                  <a:srgbClr val="2F7D57"/>
                </a:solidFill>
              </a:rPr>
              <a:t>↑</a:t>
            </a:r>
          </a:p>
        </p:txBody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F7D4355E-2FD5-46A8-ABC6-64C7F34B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324475"/>
            <a:ext cx="262128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91463"/>
          </a:bodyPr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202020"/>
                </a:solidFill>
              </a:defRPr>
            </a:pPr>
            <a:r>
              <a:rPr sz="615" b="1">
                <a:solidFill>
                  <a:srgbClr val="202020"/>
                </a:solidFill>
              </a:rPr>
              <a:t>恒生科技</a:t>
            </a:r>
          </a:p>
        </p:txBody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D3873E40-AB46-4054-B7F8-34C9204A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678" y="5324475"/>
            <a:ext cx="256032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15" b="1">
                <a:solidFill>
                  <a:srgbClr val="102641"/>
                </a:solidFill>
              </a:defRPr>
            </a:pPr>
            <a:r>
              <a:rPr sz="615" b="1">
                <a:solidFill>
                  <a:srgbClr val="102641"/>
                </a:solidFill>
              </a:rPr>
              <a:t>5066</a:t>
            </a:r>
          </a:p>
        </p:txBody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461FC270-58F1-4CAC-89FE-10B9F0595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806" y="5324475"/>
            <a:ext cx="85344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35" b="1">
                <a:solidFill>
                  <a:srgbClr val="2F7D57"/>
                </a:solidFill>
              </a:defRPr>
            </a:pPr>
            <a:r>
              <a:rPr sz="735" b="1">
                <a:solidFill>
                  <a:srgbClr val="2F7D57"/>
                </a:solidFill>
              </a:rPr>
              <a:t>↑</a:t>
            </a:r>
          </a:p>
        </p:txBody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9C11C993-5442-4888-A1C5-B4D44080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467350"/>
            <a:ext cx="262128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202020"/>
                </a:solidFill>
              </a:defRPr>
            </a:pPr>
            <a:r>
              <a:rPr sz="615" b="1">
                <a:solidFill>
                  <a:srgbClr val="202020"/>
                </a:solidFill>
              </a:rPr>
              <a:t>CFETS</a:t>
            </a:r>
          </a:p>
        </p:txBody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B611AA75-1A21-4E1B-9A42-97814A36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678" y="5467350"/>
            <a:ext cx="256032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15" b="1">
                <a:solidFill>
                  <a:srgbClr val="102641"/>
                </a:solidFill>
              </a:defRPr>
            </a:pPr>
            <a:r>
              <a:rPr sz="615" b="1">
                <a:solidFill>
                  <a:srgbClr val="102641"/>
                </a:solidFill>
              </a:rPr>
              <a:t>99.88</a:t>
            </a:r>
          </a:p>
        </p:txBody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74B93357-AA59-41C2-A8A1-14573BB2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806" y="5467350"/>
            <a:ext cx="85344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35" b="1">
                <a:solidFill>
                  <a:srgbClr val="C00024"/>
                </a:solidFill>
              </a:defRPr>
            </a:pPr>
            <a:r>
              <a:rPr sz="735" b="1">
                <a:solidFill>
                  <a:srgbClr val="C00024"/>
                </a:solidFill>
              </a:rPr>
              <a:t>↓</a:t>
            </a:r>
          </a:p>
        </p:txBody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4FF1DE3B-D775-495F-ACDE-D9BAAE31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200650"/>
            <a:ext cx="1714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9E4D0"/>
          </a:solidFill>
          <a:ln xmlns:a="http://schemas.openxmlformats.org/drawingml/2006/main" w="0">
            <a:solidFill>
              <a:srgbClr val="F9E4D0"/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4DDDDCDC-CADA-44EA-A404-3E9CDA41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648200"/>
            <a:ext cx="21336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02641"/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E52D0F24-F28E-4E34-AB7A-31A5D929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648200"/>
            <a:ext cx="2133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02641"/>
          </a:solidFill>
          <a:ln xmlns:a="http://schemas.openxmlformats.org/drawingml/2006/main" w="0">
            <a:solidFill>
              <a:srgbClr val="102641"/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C80B9D46-8BF2-431C-B669-A2AB3F2F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676775"/>
            <a:ext cx="1943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港股策略</a:t>
            </a:r>
          </a:p>
        </p:txBody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00683FC5-A131-4E0E-BED8-60167819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972050"/>
            <a:ext cx="3619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7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F44AD9DD-7A9C-4929-802D-ECD09DB8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981575"/>
            <a:ext cx="361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102641"/>
                </a:solidFill>
              </a:defRPr>
            </a:pPr>
            <a:r>
              <a:rPr sz="660" b="1">
                <a:solidFill>
                  <a:srgbClr val="102641"/>
                </a:solidFill>
              </a:rPr>
              <a:t>结论</a:t>
            </a:r>
          </a:p>
        </p:txBody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467105D5-2939-417B-859C-CCFE86062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97205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86538"/>
          </a:bodyPr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102641"/>
                </a:solidFill>
              </a:defRPr>
            </a:pPr>
            <a:r>
              <a:rPr sz="780" b="1">
                <a:solidFill>
                  <a:srgbClr val="102641"/>
                </a:solidFill>
              </a:rPr>
              <a:t>仓位防御优于结构防御，先预留风险应对仓位。</a:t>
            </a:r>
          </a:p>
        </p:txBody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6DC45353-8C4E-49FE-A2DB-D7033ECC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200650"/>
            <a:ext cx="190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BE1C3BFD-B388-45CD-A126-D08B1395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276850"/>
            <a:ext cx="3619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5C93C6C8-1A44-4851-8FCE-18C7C60C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286375"/>
            <a:ext cx="361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C00024"/>
                </a:solidFill>
              </a:defRPr>
            </a:pPr>
            <a:r>
              <a:rPr sz="660" b="1">
                <a:solidFill>
                  <a:srgbClr val="C00024"/>
                </a:solidFill>
              </a:rPr>
              <a:t>操作</a:t>
            </a:r>
          </a:p>
        </p:txBody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7DC7A648-8741-4246-9E65-0637A954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486400"/>
            <a:ext cx="1905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202020"/>
                </a:solidFill>
              </a:defRPr>
            </a:pPr>
            <a:r>
              <a:rPr sz="660" b="0">
                <a:solidFill>
                  <a:srgbClr val="202020"/>
                </a:solidFill>
              </a:rPr>
              <a:t>①仅对显著低配客户考虑逢跌定投。</a:t>
            </a:r>
          </a:p>
          <a:p xmlns:a="http://schemas.openxmlformats.org/drawingml/2006/main">
            <a:pPr algn="l">
              <a:defRPr sz="660" b="0">
                <a:solidFill>
                  <a:srgbClr val="202020"/>
                </a:solidFill>
              </a:defRPr>
            </a:pPr>
            <a:r>
              <a:rPr sz="660" b="0">
                <a:solidFill>
                  <a:srgbClr val="202020"/>
                </a:solidFill>
              </a:rPr>
              <a:t>②坚持“小跌不买、大跌才买”，节奏克制。</a:t>
            </a:r>
          </a:p>
          <a:p xmlns:a="http://schemas.openxmlformats.org/drawingml/2006/main">
            <a:pPr algn="l">
              <a:defRPr sz="660" b="0">
                <a:solidFill>
                  <a:srgbClr val="202020"/>
                </a:solidFill>
              </a:defRPr>
            </a:pPr>
            <a:r>
              <a:rPr sz="660" b="0">
                <a:solidFill>
                  <a:srgbClr val="202020"/>
                </a:solidFill>
              </a:rPr>
              <a:t>③如阶段性缓和，超配客户可逢高减仓。</a:t>
            </a:r>
          </a:p>
        </p:txBody>
      </p:sp>
    </p:spTree>
    <p:extLst>
      <p:ext uri="{BB962C8B-B14F-4D97-AF65-F5344CB8AC3E}">
        <p14:creationId xmlns:p14="http://schemas.microsoft.com/office/powerpoint/2010/main" val="1395128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2026-04-24T07:47:43.6910000Z</dcterms:created>
  <dcterms:modified xsi:type="dcterms:W3CDTF">2026-04-24T07:47:43.6910000Z</dcterms:modified>
</coreProperties>
</file>